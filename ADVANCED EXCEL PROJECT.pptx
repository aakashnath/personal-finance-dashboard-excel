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Inter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Garet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88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4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0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4.svg"/><Relationship Id="rId7" Type="http://schemas.openxmlformats.org/officeDocument/2006/relationships/image" Target="../media/image1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3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30.svg"/><Relationship Id="rId10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3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0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8.svg"/><Relationship Id="rId7" Type="http://schemas.openxmlformats.org/officeDocument/2006/relationships/image" Target="../media/image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2.sv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0.svg"/><Relationship Id="rId7" Type="http://schemas.openxmlformats.org/officeDocument/2006/relationships/image" Target="../media/image42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15274" y="3703559"/>
            <a:ext cx="9115816" cy="9149085"/>
          </a:xfrm>
          <a:custGeom>
            <a:avLst/>
            <a:gdLst/>
            <a:ahLst/>
            <a:cxnLst/>
            <a:rect l="l" t="t" r="r" b="b"/>
            <a:pathLst>
              <a:path w="9115816" h="9149085">
                <a:moveTo>
                  <a:pt x="0" y="0"/>
                </a:moveTo>
                <a:lnTo>
                  <a:pt x="9115815" y="0"/>
                </a:lnTo>
                <a:lnTo>
                  <a:pt x="9115815" y="9149085"/>
                </a:lnTo>
                <a:lnTo>
                  <a:pt x="0" y="9149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6961">
            <a:off x="12714396" y="3440228"/>
            <a:ext cx="6316550" cy="7207681"/>
          </a:xfrm>
          <a:custGeom>
            <a:avLst/>
            <a:gdLst/>
            <a:ahLst/>
            <a:cxnLst/>
            <a:rect l="l" t="t" r="r" b="b"/>
            <a:pathLst>
              <a:path w="6316550" h="7207681">
                <a:moveTo>
                  <a:pt x="0" y="0"/>
                </a:moveTo>
                <a:lnTo>
                  <a:pt x="6316550" y="0"/>
                </a:lnTo>
                <a:lnTo>
                  <a:pt x="6316550" y="7207681"/>
                </a:lnTo>
                <a:lnTo>
                  <a:pt x="0" y="7207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6528">
            <a:off x="8246275" y="4305179"/>
            <a:ext cx="3261914" cy="4114800"/>
          </a:xfrm>
          <a:custGeom>
            <a:avLst/>
            <a:gdLst/>
            <a:ahLst/>
            <a:cxnLst/>
            <a:rect l="l" t="t" r="r" b="b"/>
            <a:pathLst>
              <a:path w="3261914" h="4114800">
                <a:moveTo>
                  <a:pt x="0" y="0"/>
                </a:moveTo>
                <a:lnTo>
                  <a:pt x="3261915" y="0"/>
                </a:lnTo>
                <a:lnTo>
                  <a:pt x="3261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257799" y="3194469"/>
            <a:ext cx="7772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40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Advanced Excel Project</a:t>
            </a:r>
            <a:endParaRPr lang="en-US" sz="4000" dirty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889671" y="8483113"/>
            <a:ext cx="6508655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Presented by </a:t>
            </a:r>
            <a:endParaRPr lang="en-US" sz="4000" b="1" dirty="0" smtClean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4000" b="1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Aakash </a:t>
            </a:r>
            <a:r>
              <a:rPr lang="en-US" sz="4000" b="1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Nath &amp; </a:t>
            </a:r>
            <a:r>
              <a:rPr lang="en-US" sz="4000" b="1" dirty="0" err="1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Abhijit</a:t>
            </a:r>
            <a:r>
              <a:rPr lang="en-US" sz="4000" b="1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Roy</a:t>
            </a:r>
            <a:endParaRPr lang="en-US" sz="4000" b="1" dirty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335492"/>
            <a:ext cx="158495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FINANCE </a:t>
            </a:r>
            <a:r>
              <a:rPr lang="en-US" sz="8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PLANNER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7800" y="123526"/>
            <a:ext cx="1257299" cy="12572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37971">
            <a:off x="13922697" y="1403041"/>
            <a:ext cx="5650291" cy="4509960"/>
          </a:xfrm>
          <a:custGeom>
            <a:avLst/>
            <a:gdLst/>
            <a:ahLst/>
            <a:cxnLst/>
            <a:rect l="l" t="t" r="r" b="b"/>
            <a:pathLst>
              <a:path w="5650291" h="4509960">
                <a:moveTo>
                  <a:pt x="0" y="0"/>
                </a:moveTo>
                <a:lnTo>
                  <a:pt x="5650291" y="0"/>
                </a:lnTo>
                <a:lnTo>
                  <a:pt x="5650291" y="4509960"/>
                </a:lnTo>
                <a:lnTo>
                  <a:pt x="0" y="4509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59988" y="5918677"/>
            <a:ext cx="5227008" cy="5246085"/>
          </a:xfrm>
          <a:custGeom>
            <a:avLst/>
            <a:gdLst/>
            <a:ahLst/>
            <a:cxnLst/>
            <a:rect l="l" t="t" r="r" b="b"/>
            <a:pathLst>
              <a:path w="5227008" h="5246085">
                <a:moveTo>
                  <a:pt x="0" y="0"/>
                </a:moveTo>
                <a:lnTo>
                  <a:pt x="5227008" y="0"/>
                </a:lnTo>
                <a:lnTo>
                  <a:pt x="5227008" y="5246085"/>
                </a:lnTo>
                <a:lnTo>
                  <a:pt x="0" y="52460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489537">
            <a:off x="9383143" y="963585"/>
            <a:ext cx="3553691" cy="4114800"/>
          </a:xfrm>
          <a:custGeom>
            <a:avLst/>
            <a:gdLst/>
            <a:ahLst/>
            <a:cxnLst/>
            <a:rect l="l" t="t" r="r" b="b"/>
            <a:pathLst>
              <a:path w="3553691" h="4114800">
                <a:moveTo>
                  <a:pt x="0" y="0"/>
                </a:moveTo>
                <a:lnTo>
                  <a:pt x="3553691" y="0"/>
                </a:lnTo>
                <a:lnTo>
                  <a:pt x="35536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10856" y="971550"/>
            <a:ext cx="3796800" cy="476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81"/>
              </a:lnSpc>
              <a:spcBef>
                <a:spcPct val="0"/>
              </a:spcBef>
            </a:pPr>
            <a:r>
              <a:rPr lang="en-US" sz="2772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Introduction</a:t>
            </a:r>
            <a:endParaRPr lang="en-US" sz="2772" dirty="0">
              <a:solidFill>
                <a:srgbClr val="171717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17783" y="5160557"/>
            <a:ext cx="9638008" cy="869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/>
              </a:rPr>
              <a:t>Managing personal finance manually is </a:t>
            </a: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/>
              </a:rPr>
              <a:t>difficult</a:t>
            </a:r>
          </a:p>
          <a:p>
            <a:pPr marL="342900" indent="-3429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/>
              </a:rPr>
              <a:t>People face problems tracking expenses and savings</a:t>
            </a:r>
            <a:endParaRPr lang="en-US" sz="2800" dirty="0">
              <a:solidFill>
                <a:srgbClr val="171717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17783" y="6667500"/>
            <a:ext cx="9638008" cy="224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IN" sz="2800" b="1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Our dashboard provides</a:t>
            </a:r>
            <a:r>
              <a:rPr lang="en-IN" sz="2800" b="1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:</a:t>
            </a:r>
            <a:endParaRPr lang="en-IN" sz="2800" dirty="0" smtClean="0">
              <a:solidFill>
                <a:srgbClr val="171717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457200" indent="-4572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Expense tracking</a:t>
            </a:r>
          </a:p>
          <a:p>
            <a:pPr marL="457200" indent="-4572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Budget analysis</a:t>
            </a:r>
          </a:p>
          <a:p>
            <a:pPr marL="457200" indent="-4572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Savings monitoring</a:t>
            </a:r>
          </a:p>
          <a:p>
            <a:pPr marL="457200" indent="-4572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Interactive </a:t>
            </a: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visualization</a:t>
            </a:r>
            <a:endParaRPr lang="en-US" sz="2800" dirty="0">
              <a:solidFill>
                <a:srgbClr val="171717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1761916"/>
            <a:ext cx="8496300" cy="3180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2399"/>
              </a:lnSpc>
            </a:pPr>
            <a:r>
              <a:rPr lang="en-US" sz="15700" b="1" dirty="0">
                <a:solidFill>
                  <a:srgbClr val="171717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Project Overview</a:t>
            </a:r>
            <a:endParaRPr lang="en-US" sz="15700" b="1" dirty="0">
              <a:solidFill>
                <a:srgbClr val="171717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7842" y="103590"/>
            <a:ext cx="1257299" cy="12572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508552"/>
            <a:ext cx="7128037" cy="5883870"/>
          </a:xfrm>
          <a:custGeom>
            <a:avLst/>
            <a:gdLst/>
            <a:ahLst/>
            <a:cxnLst/>
            <a:rect l="l" t="t" r="r" b="b"/>
            <a:pathLst>
              <a:path w="7128037" h="5883870">
                <a:moveTo>
                  <a:pt x="0" y="0"/>
                </a:moveTo>
                <a:lnTo>
                  <a:pt x="7128037" y="0"/>
                </a:lnTo>
                <a:lnTo>
                  <a:pt x="7128037" y="5883870"/>
                </a:lnTo>
                <a:lnTo>
                  <a:pt x="0" y="5883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030200" y="1220763"/>
            <a:ext cx="4071839" cy="4071839"/>
          </a:xfrm>
          <a:custGeom>
            <a:avLst/>
            <a:gdLst/>
            <a:ahLst/>
            <a:cxnLst/>
            <a:rect l="l" t="t" r="r" b="b"/>
            <a:pathLst>
              <a:path w="4071839" h="4071839">
                <a:moveTo>
                  <a:pt x="0" y="0"/>
                </a:moveTo>
                <a:lnTo>
                  <a:pt x="4071840" y="0"/>
                </a:lnTo>
                <a:lnTo>
                  <a:pt x="4071840" y="4071839"/>
                </a:lnTo>
                <a:lnTo>
                  <a:pt x="0" y="4071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915358" y="1518969"/>
            <a:ext cx="3725605" cy="3773633"/>
          </a:xfrm>
          <a:custGeom>
            <a:avLst/>
            <a:gdLst/>
            <a:ahLst/>
            <a:cxnLst/>
            <a:rect l="l" t="t" r="r" b="b"/>
            <a:pathLst>
              <a:path w="3725605" h="3773633">
                <a:moveTo>
                  <a:pt x="0" y="0"/>
                </a:moveTo>
                <a:lnTo>
                  <a:pt x="3725605" y="0"/>
                </a:lnTo>
                <a:lnTo>
                  <a:pt x="3725605" y="3773633"/>
                </a:lnTo>
                <a:lnTo>
                  <a:pt x="0" y="37736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52500"/>
            <a:ext cx="4656278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Problem Statement</a:t>
            </a:r>
            <a:endParaRPr lang="en-US" sz="3399" dirty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516629"/>
            <a:ext cx="9105900" cy="3071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2399"/>
              </a:lnSpc>
              <a:spcBef>
                <a:spcPct val="0"/>
              </a:spcBef>
            </a:pPr>
            <a:r>
              <a:rPr lang="en-US" sz="9600" b="1" dirty="0">
                <a:solidFill>
                  <a:srgbClr val="F1EEEA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Problems Faced by Users</a:t>
            </a:r>
            <a:endParaRPr lang="en-US" sz="9600" b="1" u="none" strike="noStrike" dirty="0">
              <a:solidFill>
                <a:srgbClr val="F1EEEA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915358" y="5829300"/>
            <a:ext cx="8584814" cy="224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Difficulty tracking monthly </a:t>
            </a: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expenses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Overspending </a:t>
            </a:r>
            <a:r>
              <a:rPr lang="en-IN" sz="28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beyond </a:t>
            </a: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budget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No </a:t>
            </a:r>
            <a:r>
              <a:rPr lang="en-IN" sz="28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proper savings </a:t>
            </a: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analysis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Financial </a:t>
            </a:r>
            <a:r>
              <a:rPr lang="en-IN" sz="28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data scattered in multiple </a:t>
            </a: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places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Lack </a:t>
            </a:r>
            <a:r>
              <a:rPr lang="en-IN" sz="28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of visual financial insights</a:t>
            </a:r>
            <a:endParaRPr lang="en-US" sz="2800" dirty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7800" y="123526"/>
            <a:ext cx="1257299" cy="12572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575231"/>
            <a:ext cx="9491413" cy="6385132"/>
          </a:xfrm>
          <a:custGeom>
            <a:avLst/>
            <a:gdLst/>
            <a:ahLst/>
            <a:cxnLst/>
            <a:rect l="l" t="t" r="r" b="b"/>
            <a:pathLst>
              <a:path w="9491413" h="6385132">
                <a:moveTo>
                  <a:pt x="0" y="0"/>
                </a:moveTo>
                <a:lnTo>
                  <a:pt x="9491413" y="0"/>
                </a:lnTo>
                <a:lnTo>
                  <a:pt x="9491413" y="6385133"/>
                </a:lnTo>
                <a:lnTo>
                  <a:pt x="0" y="6385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74437" y="5143500"/>
            <a:ext cx="4366558" cy="4654277"/>
          </a:xfrm>
          <a:custGeom>
            <a:avLst/>
            <a:gdLst/>
            <a:ahLst/>
            <a:cxnLst/>
            <a:rect l="l" t="t" r="r" b="b"/>
            <a:pathLst>
              <a:path w="4366558" h="4654277">
                <a:moveTo>
                  <a:pt x="0" y="0"/>
                </a:moveTo>
                <a:lnTo>
                  <a:pt x="4366558" y="0"/>
                </a:lnTo>
                <a:lnTo>
                  <a:pt x="4366558" y="4654277"/>
                </a:lnTo>
                <a:lnTo>
                  <a:pt x="0" y="4654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362145" y="1020644"/>
            <a:ext cx="3796800" cy="47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81"/>
              </a:lnSpc>
              <a:spcBef>
                <a:spcPct val="0"/>
              </a:spcBef>
            </a:pPr>
            <a:r>
              <a:rPr lang="en-US" sz="2772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Project Objectives</a:t>
            </a:r>
            <a:endParaRPr lang="en-US" sz="2772" dirty="0">
              <a:solidFill>
                <a:srgbClr val="171717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2279088"/>
            <a:ext cx="8291285" cy="224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Track yearly income and </a:t>
            </a: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expenses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Compare </a:t>
            </a: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Budget vs Actual </a:t>
            </a: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Expense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 err="1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Analyze</a:t>
            </a: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spending </a:t>
            </a: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categories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Monitor </a:t>
            </a: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total </a:t>
            </a: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savings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Create </a:t>
            </a: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an interactive financial dashboard</a:t>
            </a:r>
            <a:endParaRPr lang="en-US" sz="2800" dirty="0">
              <a:solidFill>
                <a:srgbClr val="171717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223595" y="1811011"/>
            <a:ext cx="8035705" cy="318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12399"/>
              </a:lnSpc>
            </a:pPr>
            <a:r>
              <a:rPr lang="en-US" sz="13052" b="1" dirty="0">
                <a:solidFill>
                  <a:srgbClr val="171717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Main Objectives</a:t>
            </a:r>
            <a:endParaRPr lang="en-US" sz="13052" b="1" dirty="0">
              <a:solidFill>
                <a:srgbClr val="171717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101209"/>
            <a:ext cx="1257299" cy="12572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6202427" y="1144474"/>
            <a:ext cx="4398050" cy="5018522"/>
          </a:xfrm>
          <a:custGeom>
            <a:avLst/>
            <a:gdLst/>
            <a:ahLst/>
            <a:cxnLst/>
            <a:rect l="l" t="t" r="r" b="b"/>
            <a:pathLst>
              <a:path w="4398050" h="5018522">
                <a:moveTo>
                  <a:pt x="4398051" y="0"/>
                </a:moveTo>
                <a:lnTo>
                  <a:pt x="0" y="0"/>
                </a:lnTo>
                <a:lnTo>
                  <a:pt x="0" y="5018522"/>
                </a:lnTo>
                <a:lnTo>
                  <a:pt x="4398051" y="5018522"/>
                </a:lnTo>
                <a:lnTo>
                  <a:pt x="439805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89686">
            <a:off x="1133956" y="1040305"/>
            <a:ext cx="4595688" cy="3943936"/>
          </a:xfrm>
          <a:custGeom>
            <a:avLst/>
            <a:gdLst/>
            <a:ahLst/>
            <a:cxnLst/>
            <a:rect l="l" t="t" r="r" b="b"/>
            <a:pathLst>
              <a:path w="4595688" h="3943936">
                <a:moveTo>
                  <a:pt x="0" y="0"/>
                </a:moveTo>
                <a:lnTo>
                  <a:pt x="4595689" y="0"/>
                </a:lnTo>
                <a:lnTo>
                  <a:pt x="4595689" y="3943936"/>
                </a:lnTo>
                <a:lnTo>
                  <a:pt x="0" y="3943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69389">
            <a:off x="12989842" y="849470"/>
            <a:ext cx="3306803" cy="4114800"/>
          </a:xfrm>
          <a:custGeom>
            <a:avLst/>
            <a:gdLst/>
            <a:ahLst/>
            <a:cxnLst/>
            <a:rect l="l" t="t" r="r" b="b"/>
            <a:pathLst>
              <a:path w="3306803" h="4114800">
                <a:moveTo>
                  <a:pt x="0" y="0"/>
                </a:moveTo>
                <a:lnTo>
                  <a:pt x="3306803" y="0"/>
                </a:lnTo>
                <a:lnTo>
                  <a:pt x="330680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448800" y="5667875"/>
            <a:ext cx="4038600" cy="3590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600" b="1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Technologies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3600" b="1" dirty="0" smtClean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457200" indent="-45720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US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Microsoft Excel</a:t>
            </a:r>
          </a:p>
          <a:p>
            <a:pPr marL="457200" indent="-45720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US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Pivot Tables</a:t>
            </a:r>
          </a:p>
          <a:p>
            <a:pPr marL="457200" indent="-45720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US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Pivot Charts</a:t>
            </a:r>
          </a:p>
          <a:p>
            <a:pPr marL="457200" indent="-45720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US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Slicers</a:t>
            </a:r>
          </a:p>
          <a:p>
            <a:pPr marL="457200" indent="-45720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US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KPI Cards</a:t>
            </a:r>
          </a:p>
          <a:p>
            <a:pPr marL="457200" indent="-45720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US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Excel </a:t>
            </a:r>
            <a:r>
              <a:rPr lang="en-US" sz="28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Formulas</a:t>
            </a:r>
            <a:endParaRPr lang="en-US" sz="2800" dirty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8700" y="4762500"/>
            <a:ext cx="8267700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</p:txBody>
      </p:sp>
      <p:sp>
        <p:nvSpPr>
          <p:cNvPr id="10" name="TextBox 7"/>
          <p:cNvSpPr txBox="1"/>
          <p:nvPr/>
        </p:nvSpPr>
        <p:spPr>
          <a:xfrm>
            <a:off x="13639800" y="5667875"/>
            <a:ext cx="4038600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Dashboard </a:t>
            </a:r>
            <a:r>
              <a:rPr lang="en-US" sz="3600" b="1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Features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3600" b="1" dirty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514350" indent="-51435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US" sz="28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Interactive </a:t>
            </a:r>
            <a:r>
              <a:rPr lang="en-US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filtering</a:t>
            </a:r>
          </a:p>
          <a:p>
            <a:pPr marL="514350" indent="-51435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US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Real-time analysis</a:t>
            </a:r>
          </a:p>
          <a:p>
            <a:pPr marL="514350" indent="-51435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US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Dynamic </a:t>
            </a:r>
            <a:r>
              <a:rPr lang="en-US" sz="28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charts</a:t>
            </a:r>
            <a:endParaRPr lang="en-US" sz="2800" dirty="0" smtClean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3600" b="1" dirty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3600" b="1" dirty="0" smtClean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7800" y="123526"/>
            <a:ext cx="1257299" cy="12572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3266">
            <a:off x="11081625" y="866268"/>
            <a:ext cx="5932050" cy="5349631"/>
          </a:xfrm>
          <a:custGeom>
            <a:avLst/>
            <a:gdLst/>
            <a:ahLst/>
            <a:cxnLst/>
            <a:rect l="l" t="t" r="r" b="b"/>
            <a:pathLst>
              <a:path w="5932050" h="5349631">
                <a:moveTo>
                  <a:pt x="0" y="0"/>
                </a:moveTo>
                <a:lnTo>
                  <a:pt x="5932050" y="0"/>
                </a:lnTo>
                <a:lnTo>
                  <a:pt x="5932050" y="5349631"/>
                </a:lnTo>
                <a:lnTo>
                  <a:pt x="0" y="5349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03706" y="785229"/>
            <a:ext cx="3848099" cy="4937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IN" sz="3600" b="1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KPI Cards </a:t>
            </a:r>
            <a:r>
              <a:rPr lang="en-IN" sz="3600" b="1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Used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  <a:endParaRPr lang="en-IN" sz="3600" b="1" dirty="0" smtClean="0">
              <a:solidFill>
                <a:srgbClr val="171717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Total Income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Total Expenses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Total Savings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Loan EMI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Average Credit Score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Savings Rate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Expense Ratio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Total Transactions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Average Income</a:t>
            </a:r>
            <a:endParaRPr lang="en-US" sz="2800" dirty="0">
              <a:solidFill>
                <a:srgbClr val="171717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174342" y="6597556"/>
            <a:ext cx="12084958" cy="3284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12399"/>
              </a:lnSpc>
            </a:pPr>
            <a:r>
              <a:rPr lang="en-US" sz="13052" b="1" dirty="0">
                <a:solidFill>
                  <a:srgbClr val="171717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 Dashboard Components</a:t>
            </a:r>
            <a:endParaRPr lang="en-US" sz="13052" b="1" dirty="0">
              <a:solidFill>
                <a:srgbClr val="171717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6" name="Freeform 6"/>
          <p:cNvSpPr/>
          <p:nvPr/>
        </p:nvSpPr>
        <p:spPr>
          <a:xfrm rot="450015">
            <a:off x="1011994" y="5656404"/>
            <a:ext cx="5566448" cy="5586764"/>
          </a:xfrm>
          <a:custGeom>
            <a:avLst/>
            <a:gdLst/>
            <a:ahLst/>
            <a:cxnLst/>
            <a:rect l="l" t="t" r="r" b="b"/>
            <a:pathLst>
              <a:path w="5566448" h="5586764">
                <a:moveTo>
                  <a:pt x="0" y="0"/>
                </a:moveTo>
                <a:lnTo>
                  <a:pt x="5566448" y="0"/>
                </a:lnTo>
                <a:lnTo>
                  <a:pt x="5566448" y="5586764"/>
                </a:lnTo>
                <a:lnTo>
                  <a:pt x="0" y="5586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3"/>
          <p:cNvSpPr txBox="1"/>
          <p:nvPr/>
        </p:nvSpPr>
        <p:spPr>
          <a:xfrm>
            <a:off x="5184327" y="785229"/>
            <a:ext cx="5025098" cy="2244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IN" sz="3600" b="1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Analysis </a:t>
            </a:r>
            <a:r>
              <a:rPr lang="en-IN" sz="3600" b="1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Sections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IN" sz="3600" b="1" dirty="0" smtClean="0">
              <a:solidFill>
                <a:srgbClr val="171717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Expense Category </a:t>
            </a: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Analysis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Budget </a:t>
            </a: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vs Actual </a:t>
            </a: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Analysis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8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Monthly </a:t>
            </a:r>
            <a:r>
              <a:rPr lang="en-IN" sz="28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Financial Tracking</a:t>
            </a:r>
            <a:endParaRPr lang="en-US" sz="2800" dirty="0">
              <a:solidFill>
                <a:srgbClr val="171717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7800" y="123526"/>
            <a:ext cx="1257299" cy="12572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74683">
            <a:off x="-2613504" y="3834447"/>
            <a:ext cx="5227008" cy="5246085"/>
          </a:xfrm>
          <a:custGeom>
            <a:avLst/>
            <a:gdLst/>
            <a:ahLst/>
            <a:cxnLst/>
            <a:rect l="l" t="t" r="r" b="b"/>
            <a:pathLst>
              <a:path w="5227008" h="5246085">
                <a:moveTo>
                  <a:pt x="0" y="0"/>
                </a:moveTo>
                <a:lnTo>
                  <a:pt x="5227008" y="0"/>
                </a:lnTo>
                <a:lnTo>
                  <a:pt x="5227008" y="5246085"/>
                </a:lnTo>
                <a:lnTo>
                  <a:pt x="0" y="5246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38430">
            <a:off x="16185239" y="1499016"/>
            <a:ext cx="3553691" cy="4114800"/>
          </a:xfrm>
          <a:custGeom>
            <a:avLst/>
            <a:gdLst/>
            <a:ahLst/>
            <a:cxnLst/>
            <a:rect l="l" t="t" r="r" b="b"/>
            <a:pathLst>
              <a:path w="3553691" h="4114800">
                <a:moveTo>
                  <a:pt x="0" y="0"/>
                </a:moveTo>
                <a:lnTo>
                  <a:pt x="3553691" y="0"/>
                </a:lnTo>
                <a:lnTo>
                  <a:pt x="35536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40211">
            <a:off x="688762" y="-750988"/>
            <a:ext cx="3142211" cy="4114800"/>
          </a:xfrm>
          <a:custGeom>
            <a:avLst/>
            <a:gdLst/>
            <a:ahLst/>
            <a:cxnLst/>
            <a:rect l="l" t="t" r="r" b="b"/>
            <a:pathLst>
              <a:path w="3142211" h="4114800">
                <a:moveTo>
                  <a:pt x="0" y="0"/>
                </a:moveTo>
                <a:lnTo>
                  <a:pt x="3142211" y="0"/>
                </a:lnTo>
                <a:lnTo>
                  <a:pt x="31422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89821" y="6066166"/>
            <a:ext cx="4744528" cy="4114800"/>
          </a:xfrm>
          <a:custGeom>
            <a:avLst/>
            <a:gdLst/>
            <a:ahLst/>
            <a:cxnLst/>
            <a:rect l="l" t="t" r="r" b="b"/>
            <a:pathLst>
              <a:path w="4744528" h="4114800">
                <a:moveTo>
                  <a:pt x="0" y="0"/>
                </a:moveTo>
                <a:lnTo>
                  <a:pt x="4744529" y="0"/>
                </a:lnTo>
                <a:lnTo>
                  <a:pt x="4744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43200" y="5477714"/>
            <a:ext cx="5427357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IN" sz="3600" b="1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Visualizations </a:t>
            </a:r>
            <a:r>
              <a:rPr lang="en-IN" sz="3600" b="1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Used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IN" sz="2500" dirty="0" smtClean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514350" indent="-51435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Bar Charts</a:t>
            </a:r>
          </a:p>
          <a:p>
            <a:pPr marL="514350" indent="-51435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Pivot Charts</a:t>
            </a:r>
          </a:p>
          <a:p>
            <a:pPr marL="514350" indent="-51435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Expense </a:t>
            </a:r>
            <a:r>
              <a:rPr lang="en-IN" sz="28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Comparison </a:t>
            </a: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Graphs</a:t>
            </a:r>
          </a:p>
          <a:p>
            <a:pPr marL="514350" indent="-51435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Category-Based </a:t>
            </a:r>
            <a:r>
              <a:rPr lang="en-IN" sz="28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Analysis</a:t>
            </a:r>
            <a:endParaRPr lang="en-US" sz="2800" dirty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26561" y="1257300"/>
            <a:ext cx="1153539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&amp; Visualization</a:t>
            </a:r>
          </a:p>
        </p:txBody>
      </p:sp>
      <p:sp>
        <p:nvSpPr>
          <p:cNvPr id="10" name="TextBox 7"/>
          <p:cNvSpPr txBox="1"/>
          <p:nvPr/>
        </p:nvSpPr>
        <p:spPr>
          <a:xfrm>
            <a:off x="9448800" y="5379882"/>
            <a:ext cx="5943600" cy="2244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IN" sz="3600" b="1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Benefits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IN" sz="2500" dirty="0" smtClean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514350" indent="-51435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IN" sz="28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Easy understanding of financial </a:t>
            </a: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data</a:t>
            </a:r>
          </a:p>
          <a:p>
            <a:pPr marL="514350" indent="-51435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Better decision-making</a:t>
            </a:r>
          </a:p>
          <a:p>
            <a:pPr marL="514350" indent="-514350" algn="ctr">
              <a:lnSpc>
                <a:spcPts val="3500"/>
              </a:lnSpc>
              <a:spcBef>
                <a:spcPct val="0"/>
              </a:spcBef>
              <a:buFont typeface="+mj-lt"/>
              <a:buAutoNum type="arabicParenR"/>
            </a:pPr>
            <a:r>
              <a:rPr lang="en-IN" sz="28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Faster </a:t>
            </a:r>
            <a:r>
              <a:rPr lang="en-IN" sz="28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financial analysis</a:t>
            </a:r>
            <a:endParaRPr lang="en-US" sz="2800" dirty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7800" y="123526"/>
            <a:ext cx="1257299" cy="12572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15445" y="1600689"/>
            <a:ext cx="4395308" cy="3923811"/>
          </a:xfrm>
          <a:custGeom>
            <a:avLst/>
            <a:gdLst/>
            <a:ahLst/>
            <a:cxnLst/>
            <a:rect l="l" t="t" r="r" b="b"/>
            <a:pathLst>
              <a:path w="4395308" h="3923811">
                <a:moveTo>
                  <a:pt x="0" y="0"/>
                </a:moveTo>
                <a:lnTo>
                  <a:pt x="4395308" y="0"/>
                </a:lnTo>
                <a:lnTo>
                  <a:pt x="4395308" y="3923811"/>
                </a:lnTo>
                <a:lnTo>
                  <a:pt x="0" y="3923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134600" y="5524500"/>
            <a:ext cx="4163884" cy="4438249"/>
          </a:xfrm>
          <a:custGeom>
            <a:avLst/>
            <a:gdLst/>
            <a:ahLst/>
            <a:cxnLst/>
            <a:rect l="l" t="t" r="r" b="b"/>
            <a:pathLst>
              <a:path w="4163884" h="4438249">
                <a:moveTo>
                  <a:pt x="0" y="0"/>
                </a:moveTo>
                <a:lnTo>
                  <a:pt x="4163884" y="0"/>
                </a:lnTo>
                <a:lnTo>
                  <a:pt x="4163884" y="4438249"/>
                </a:lnTo>
                <a:lnTo>
                  <a:pt x="0" y="4438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52056" y="2552700"/>
            <a:ext cx="6096000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Why Industries Need </a:t>
            </a:r>
            <a:r>
              <a:rPr lang="en-US" sz="4000" b="1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This?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  <a:endParaRPr lang="en-US" sz="3200" b="1" dirty="0">
              <a:solidFill>
                <a:srgbClr val="171717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Budget monitoring </a:t>
            </a:r>
            <a:r>
              <a:rPr lang="en-IN" sz="32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systems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Financial </a:t>
            </a:r>
            <a:r>
              <a:rPr lang="en-IN" sz="32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reporting </a:t>
            </a:r>
            <a:r>
              <a:rPr lang="en-IN" sz="32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dashboards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Expense </a:t>
            </a:r>
            <a:r>
              <a:rPr lang="en-IN" sz="32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management </a:t>
            </a:r>
            <a:r>
              <a:rPr lang="en-IN" sz="32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solutions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Data-driven </a:t>
            </a:r>
            <a:r>
              <a:rPr lang="en-IN" sz="32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decision </a:t>
            </a:r>
            <a:r>
              <a:rPr lang="en-IN" sz="32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making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Business </a:t>
            </a:r>
            <a:r>
              <a:rPr lang="en-IN" sz="32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performance tracking</a:t>
            </a:r>
            <a:endParaRPr lang="en-US" sz="3200" dirty="0">
              <a:solidFill>
                <a:srgbClr val="171717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38201" y="277657"/>
            <a:ext cx="15011399" cy="1481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2399"/>
              </a:lnSpc>
            </a:pPr>
            <a:r>
              <a:rPr lang="en-US" sz="9600" b="1" dirty="0">
                <a:solidFill>
                  <a:srgbClr val="171717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Industry Relevance</a:t>
            </a:r>
            <a:endParaRPr lang="en-US" sz="9600" b="1" dirty="0">
              <a:solidFill>
                <a:srgbClr val="171717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865911" y="6488454"/>
            <a:ext cx="6096000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Real-World </a:t>
            </a:r>
            <a:r>
              <a:rPr lang="en-US" sz="4000" b="1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Applications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  <a:endParaRPr lang="en-US" sz="3200" b="1" dirty="0">
              <a:solidFill>
                <a:srgbClr val="171717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Banking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Small Businesses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Personal Finance</a:t>
            </a:r>
          </a:p>
          <a:p>
            <a:pPr marL="457200" indent="-457200" algn="just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 smtClean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Accounting </a:t>
            </a:r>
            <a:r>
              <a:rPr lang="en-IN" sz="3200" dirty="0">
                <a:solidFill>
                  <a:srgbClr val="171717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Sector</a:t>
            </a:r>
            <a:endParaRPr lang="en-US" sz="3200" dirty="0">
              <a:solidFill>
                <a:srgbClr val="171717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7800" y="123526"/>
            <a:ext cx="1257299" cy="12572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694376"/>
            <a:ext cx="6067399" cy="4114800"/>
          </a:xfrm>
          <a:custGeom>
            <a:avLst/>
            <a:gdLst/>
            <a:ahLst/>
            <a:cxnLst/>
            <a:rect l="l" t="t" r="r" b="b"/>
            <a:pathLst>
              <a:path w="6067399" h="4114800">
                <a:moveTo>
                  <a:pt x="0" y="0"/>
                </a:moveTo>
                <a:lnTo>
                  <a:pt x="6067399" y="0"/>
                </a:lnTo>
                <a:lnTo>
                  <a:pt x="60673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146295" y="6316365"/>
            <a:ext cx="7128037" cy="5883870"/>
          </a:xfrm>
          <a:custGeom>
            <a:avLst/>
            <a:gdLst/>
            <a:ahLst/>
            <a:cxnLst/>
            <a:rect l="l" t="t" r="r" b="b"/>
            <a:pathLst>
              <a:path w="7128037" h="5883870">
                <a:moveTo>
                  <a:pt x="0" y="0"/>
                </a:moveTo>
                <a:lnTo>
                  <a:pt x="7128037" y="0"/>
                </a:lnTo>
                <a:lnTo>
                  <a:pt x="7128037" y="5883870"/>
                </a:lnTo>
                <a:lnTo>
                  <a:pt x="0" y="5883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96083" flipH="1">
            <a:off x="15020556" y="1137741"/>
            <a:ext cx="6073623" cy="6095789"/>
          </a:xfrm>
          <a:custGeom>
            <a:avLst/>
            <a:gdLst/>
            <a:ahLst/>
            <a:cxnLst/>
            <a:rect l="l" t="t" r="r" b="b"/>
            <a:pathLst>
              <a:path w="6073623" h="6095789">
                <a:moveTo>
                  <a:pt x="6073623" y="0"/>
                </a:moveTo>
                <a:lnTo>
                  <a:pt x="0" y="0"/>
                </a:lnTo>
                <a:lnTo>
                  <a:pt x="0" y="6095790"/>
                </a:lnTo>
                <a:lnTo>
                  <a:pt x="6073623" y="6095790"/>
                </a:lnTo>
                <a:lnTo>
                  <a:pt x="60736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750031"/>
            <a:ext cx="7924800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2399"/>
              </a:lnSpc>
              <a:spcBef>
                <a:spcPct val="0"/>
              </a:spcBef>
            </a:pPr>
            <a:r>
              <a:rPr lang="en-US" sz="13052" b="1" dirty="0">
                <a:solidFill>
                  <a:srgbClr val="F1EEEA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981765"/>
            <a:ext cx="7353300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Dashboard simplifies financial </a:t>
            </a:r>
            <a:r>
              <a:rPr lang="en-IN" sz="32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management</a:t>
            </a:r>
          </a:p>
          <a:p>
            <a:pPr marL="457200" indent="-4572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Interactive </a:t>
            </a:r>
            <a:r>
              <a:rPr lang="en-IN" sz="32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visuals improve </a:t>
            </a:r>
            <a:r>
              <a:rPr lang="en-IN" sz="32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analysis</a:t>
            </a:r>
          </a:p>
          <a:p>
            <a:pPr marL="457200" indent="-4572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Helps </a:t>
            </a:r>
            <a:r>
              <a:rPr lang="en-IN" sz="32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users control spending </a:t>
            </a:r>
            <a:r>
              <a:rPr lang="en-IN" sz="3200" dirty="0" smtClean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habits</a:t>
            </a:r>
          </a:p>
        </p:txBody>
      </p:sp>
      <p:sp>
        <p:nvSpPr>
          <p:cNvPr id="8" name="TextBox 6"/>
          <p:cNvSpPr txBox="1"/>
          <p:nvPr/>
        </p:nvSpPr>
        <p:spPr>
          <a:xfrm>
            <a:off x="8382000" y="2981764"/>
            <a:ext cx="8229600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Useful for both individuals and businesses</a:t>
            </a:r>
          </a:p>
          <a:p>
            <a:pPr marL="457200" indent="-4572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Provides industry-level reporting experience</a:t>
            </a:r>
          </a:p>
          <a:p>
            <a:pPr marL="457200" indent="-4572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F1EEE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Improves financial planning and helps users make smarter budgeting decisions.</a:t>
            </a:r>
            <a:endParaRPr lang="en-IN" sz="3200" dirty="0" smtClean="0">
              <a:solidFill>
                <a:srgbClr val="F1EEEA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7800" y="123526"/>
            <a:ext cx="1257299" cy="12572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7008">
            <a:off x="-929479" y="-2654441"/>
            <a:ext cx="8583592" cy="7366283"/>
          </a:xfrm>
          <a:custGeom>
            <a:avLst/>
            <a:gdLst/>
            <a:ahLst/>
            <a:cxnLst/>
            <a:rect l="l" t="t" r="r" b="b"/>
            <a:pathLst>
              <a:path w="8583592" h="7366283">
                <a:moveTo>
                  <a:pt x="0" y="0"/>
                </a:moveTo>
                <a:lnTo>
                  <a:pt x="8583592" y="0"/>
                </a:lnTo>
                <a:lnTo>
                  <a:pt x="8583592" y="7366282"/>
                </a:lnTo>
                <a:lnTo>
                  <a:pt x="0" y="7366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8767">
            <a:off x="12435764" y="1142571"/>
            <a:ext cx="4733681" cy="3778338"/>
          </a:xfrm>
          <a:custGeom>
            <a:avLst/>
            <a:gdLst/>
            <a:ahLst/>
            <a:cxnLst/>
            <a:rect l="l" t="t" r="r" b="b"/>
            <a:pathLst>
              <a:path w="4733681" h="3778338">
                <a:moveTo>
                  <a:pt x="0" y="0"/>
                </a:moveTo>
                <a:lnTo>
                  <a:pt x="4733681" y="0"/>
                </a:lnTo>
                <a:lnTo>
                  <a:pt x="4733681" y="3778339"/>
                </a:lnTo>
                <a:lnTo>
                  <a:pt x="0" y="3778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220136" y="1028700"/>
            <a:ext cx="3326496" cy="3326496"/>
          </a:xfrm>
          <a:custGeom>
            <a:avLst/>
            <a:gdLst/>
            <a:ahLst/>
            <a:cxnLst/>
            <a:rect l="l" t="t" r="r" b="b"/>
            <a:pathLst>
              <a:path w="3326496" h="3326496">
                <a:moveTo>
                  <a:pt x="0" y="0"/>
                </a:moveTo>
                <a:lnTo>
                  <a:pt x="3326496" y="0"/>
                </a:lnTo>
                <a:lnTo>
                  <a:pt x="3326496" y="3326496"/>
                </a:lnTo>
                <a:lnTo>
                  <a:pt x="0" y="33264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16448" y="5157180"/>
            <a:ext cx="16978709" cy="315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36"/>
              </a:lnSpc>
            </a:pPr>
            <a:r>
              <a:rPr lang="en-US" sz="25932" b="1" spc="-1685" dirty="0">
                <a:solidFill>
                  <a:srgbClr val="171717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Thank </a:t>
            </a:r>
            <a:r>
              <a:rPr lang="en-US" sz="25932" b="1" spc="-1685" dirty="0" smtClean="0">
                <a:solidFill>
                  <a:srgbClr val="171717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You</a:t>
            </a:r>
            <a:endParaRPr lang="en-US" sz="25932" b="1" spc="-1685" dirty="0">
              <a:solidFill>
                <a:srgbClr val="171717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7800" y="123526"/>
            <a:ext cx="1257299" cy="12572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251</Words>
  <Application>Microsoft Office PowerPoint</Application>
  <PresentationFormat>Custom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Inter</vt:lpstr>
      <vt:lpstr>Calibri</vt:lpstr>
      <vt:lpstr>Arial</vt:lpstr>
      <vt:lpstr>Times New Roman</vt:lpstr>
      <vt:lpstr>Garet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Stock Market Presentation</dc:title>
  <cp:lastModifiedBy>Administrator</cp:lastModifiedBy>
  <cp:revision>22</cp:revision>
  <dcterms:created xsi:type="dcterms:W3CDTF">2006-08-16T00:00:00Z</dcterms:created>
  <dcterms:modified xsi:type="dcterms:W3CDTF">2026-05-26T15:23:34Z</dcterms:modified>
  <dc:identifier>DAHKxTZGyQI</dc:identifier>
</cp:coreProperties>
</file>